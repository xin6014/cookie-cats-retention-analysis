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018e52e4f6407c" /><Relationship Type="http://schemas.openxmlformats.org/officeDocument/2006/relationships/extended-properties" Target="/docProps/app.xml" Id="Ra2eef03646f6437c" /><Relationship Type="http://schemas.openxmlformats.org/officeDocument/2006/relationships/officeDocument" Target="/ppt/presentation.xml" Id="R589b15ba28b045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47c28e122048c3"/>
  </p:sldMasterIdLst>
  <p:notesMasterIdLst>
    <p:notesMasterId xmlns:r="http://schemas.openxmlformats.org/officeDocument/2006/relationships" r:id="R6b82c043353b4a12"/>
  </p:notesMasterIdLst>
  <p:sldIdLst>
    <p:sldId xmlns:r="http://schemas.openxmlformats.org/officeDocument/2006/relationships" id="256" r:id="Rbb9051a627d84a24"/>
    <p:sldId xmlns:r="http://schemas.openxmlformats.org/officeDocument/2006/relationships" id="257" r:id="Ra92e95ad6d6e4de8"/>
    <p:sldId xmlns:r="http://schemas.openxmlformats.org/officeDocument/2006/relationships" id="258" r:id="R921d575b7bd54a99"/>
    <p:sldId xmlns:r="http://schemas.openxmlformats.org/officeDocument/2006/relationships" id="259" r:id="R9d9d1038e23947b0"/>
    <p:sldId xmlns:r="http://schemas.openxmlformats.org/officeDocument/2006/relationships" id="260" r:id="Rb27de8eff3214b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93814165ae424d" /><Relationship Type="http://schemas.openxmlformats.org/officeDocument/2006/relationships/slideMaster" Target="/ppt/slideMasters/slideMaster1.xml" Id="R3d47c28e122048c3" /><Relationship Type="http://schemas.openxmlformats.org/officeDocument/2006/relationships/notesMaster" Target="/ppt/notesMasters/notesMaster1.xml" Id="R6b82c043353b4a12" /><Relationship Type="http://schemas.openxmlformats.org/officeDocument/2006/relationships/presProps" Target="/ppt/presProps.xml" Id="R30c588c88f864152" /><Relationship Type="http://schemas.openxmlformats.org/officeDocument/2006/relationships/tableStyles" Target="/ppt/tableStyles.xml" Id="Rf5ef5d2425a84b37" /><Relationship Type="http://schemas.openxmlformats.org/officeDocument/2006/relationships/slide" Target="/ppt/slides/slide1.xml" Id="Rbb9051a627d84a24" /><Relationship Type="http://schemas.openxmlformats.org/officeDocument/2006/relationships/slide" Target="/ppt/slides/slide2.xml" Id="Ra92e95ad6d6e4de8" /><Relationship Type="http://schemas.openxmlformats.org/officeDocument/2006/relationships/slide" Target="/ppt/slides/slide3.xml" Id="R921d575b7bd54a99" /><Relationship Type="http://schemas.openxmlformats.org/officeDocument/2006/relationships/slide" Target="/ppt/slides/slide4.xml" Id="R9d9d1038e23947b0" /><Relationship Type="http://schemas.openxmlformats.org/officeDocument/2006/relationships/slide" Target="/ppt/slides/slide5.xml" Id="Rb27de8eff3214b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228fe2d73c4d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72355fe98640f3" /><Relationship Type="http://schemas.openxmlformats.org/officeDocument/2006/relationships/notesMaster" Target="/ppt/notesMasters/notesMaster1.xml" Id="R72aaefe640c046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719bf6797b4f4a" /><Relationship Type="http://schemas.openxmlformats.org/officeDocument/2006/relationships/notesMaster" Target="/ppt/notesMasters/notesMaster1.xml" Id="Rcf0fec5baf4d47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d40d57ff014347" /><Relationship Type="http://schemas.openxmlformats.org/officeDocument/2006/relationships/notesMaster" Target="/ppt/notesMasters/notesMaster1.xml" Id="Rac0ce3d563fd4f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fff14c599c4063" /><Relationship Type="http://schemas.openxmlformats.org/officeDocument/2006/relationships/notesMaster" Target="/ppt/notesMasters/notesMaster1.xml" Id="R811503809bbc4f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39f66b46ef4b93" /><Relationship Type="http://schemas.openxmlformats.org/officeDocument/2006/relationships/notesMaster" Target="/ppt/notesMasters/notesMaster1.xml" Id="R85313427f4954b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开场先给结论，再说明这是一个公开数据项目，不代表任何真实上线项目的业务表现。数据来源：DataCamp Mobile Games A/B Testing with Cookie Cats。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SRM 检验 p=0.0086，实际占比 49.56% 对 50.44%。这不足以单独否定实验，但需要作为数据限制披露。来源：本地 analysis_results.json。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双比例 z 检验；差异口径为 gate_40 减 gate_30。D7 的 95% 置信区间完全低于 0，D1 的区间跨过 0。来源：analysis_results.json。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Mann-Whitney U 检验 p=0.0502，只作为辅助信号。图形为 D7 留存按累计轮次分桶，属于描述性分析。来源：analysis_results.json。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结论只覆盖留存和参与度。下一步应补充商业化指标、长期留存和渠道分层。数据来源：DataCamp Mobile Games A/B Testing with Cookie Cats。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58a294f98043f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ce55fa29094d9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adf86f1f9040c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9a7869c6364a0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7c7645749f42d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7b82637a1a44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5371D65-5FCA-4066-ADA4-9E4670D8DB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6EB7FC0-62E1-416F-9118-09993434DE2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33BD5F6-DA5B-458A-A1D6-1B67ADFA9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CB15D4-20D4-434A-B6CE-03A4A59CEF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6CB2B02-928E-4A0A-BAED-5C549FD968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D029A0C-0763-4D4C-B7C9-49DAFF99A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E76C240-9920-4D6E-A8C5-3415C2C2E0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35B60F0-5855-41F8-A3F3-D9D859389D3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C6561BD-9350-4B6E-91F7-0FCAAD5CC2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C2B51C7-6C4E-4DE7-B325-7BF34B95A2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6250f1127342f5" /><Relationship Type="http://schemas.openxmlformats.org/officeDocument/2006/relationships/slideLayout" Target="/ppt/slideLayouts/slideLayout1.xml" Id="R709a7866bd4f4351" /><Relationship Type="http://schemas.openxmlformats.org/officeDocument/2006/relationships/slideLayout" Target="/ppt/slideLayouts/slideLayout2.xml" Id="R100fb01edfcc4f18" /><Relationship Type="http://schemas.openxmlformats.org/officeDocument/2006/relationships/slideLayout" Target="/ppt/slideLayouts/slideLayout3.xml" Id="R77241eb2bb6c4931" /><Relationship Type="http://schemas.openxmlformats.org/officeDocument/2006/relationships/slideLayout" Target="/ppt/slideLayouts/slideLayout4.xml" Id="Rce316576efa54de0" /><Relationship Type="http://schemas.openxmlformats.org/officeDocument/2006/relationships/slideLayout" Target="/ppt/slideLayouts/slideLayout5.xml" Id="Rd2b21efc5de34448" /><Relationship Type="http://schemas.openxmlformats.org/officeDocument/2006/relationships/slideLayout" Target="/ppt/slideLayouts/slideLayout6.xml" Id="R7e6837c5ecba4b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9a7866bd4f4351"/>
    <p:sldLayoutId xmlns:r="http://schemas.openxmlformats.org/officeDocument/2006/relationships" id="2147483650" r:id="R100fb01edfcc4f18"/>
    <p:sldLayoutId xmlns:r="http://schemas.openxmlformats.org/officeDocument/2006/relationships" id="2147483651" r:id="R77241eb2bb6c4931"/>
    <p:sldLayoutId xmlns:r="http://schemas.openxmlformats.org/officeDocument/2006/relationships" id="2147483652" r:id="Rce316576efa54de0"/>
    <p:sldLayoutId xmlns:r="http://schemas.openxmlformats.org/officeDocument/2006/relationships" id="2147483653" r:id="Rd2b21efc5de34448"/>
    <p:sldLayoutId xmlns:r="http://schemas.openxmlformats.org/officeDocument/2006/relationships" id="2147483654" r:id="R7e6837c5ecba4b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b28fe119e84c4a" /><Relationship Type="http://schemas.openxmlformats.org/officeDocument/2006/relationships/notesSlide" Target="/ppt/notesSlides/notesSlide1.xml" Id="R4ada73611a2842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ed1f284cec48ca" /><Relationship Type="http://schemas.openxmlformats.org/officeDocument/2006/relationships/notesSlide" Target="/ppt/notesSlides/notesSlide2.xml" Id="R2b09de43664548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4d4d373e1c44a1" /><Relationship Type="http://schemas.openxmlformats.org/officeDocument/2006/relationships/chart" Target="/ppt/slides/charts/chart1.xml" Id="Racfd258f3fe64fe1" /><Relationship Type="http://schemas.openxmlformats.org/officeDocument/2006/relationships/notesSlide" Target="/ppt/notesSlides/notesSlide3.xml" Id="Rd0e7cbf6cdcb42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8b0cb1276849a0" /><Relationship Type="http://schemas.openxmlformats.org/officeDocument/2006/relationships/chart" Target="/ppt/slides/charts/chart2.xml" Id="R7cd22fdd530e476b" /><Relationship Type="http://schemas.openxmlformats.org/officeDocument/2006/relationships/notesSlide" Target="/ppt/notesSlides/notesSlide4.xml" Id="R577def3fdad64d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b7e233e4124461" /><Relationship Type="http://schemas.openxmlformats.org/officeDocument/2006/relationships/notesSlide" Target="/ppt/notesSlides/notesSlide5.xml" Id="Rc051cb9d6c2e4aa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gate_30</c:v>
          </c:tx>
          <c:spPr>
            <a:solidFill xmlns:a="http://schemas.openxmlformats.org/drawingml/2006/main">
              <a:srgbClr val="0072B2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D1 留存</c:v>
                </c:pt>
                <c:pt idx="1">
                  <c:v>D7 留存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44.82</c:v>
                </c:pt>
                <c:pt idx="1">
                  <c:v>19.02</c:v>
                </c:pt>
              </c:numCache>
            </c:numRef>
          </c:val>
        </c:ser>
        <c:ser>
          <c:idx val="1"/>
          <c:order val="1"/>
          <c:tx>
            <c:v>gate_40</c:v>
          </c:tx>
          <c:spPr>
            <a:solidFill xmlns:a="http://schemas.openxmlformats.org/drawingml/2006/main">
              <a:srgbClr val="D55E00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D1 留存</c:v>
                </c:pt>
                <c:pt idx="1">
                  <c:v>D7 留存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44.23</c:v>
                </c:pt>
                <c:pt idx="1">
                  <c:v>18.2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7202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留存指标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0D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留存率（%）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gate_30</c:v>
          </c:tx>
          <c:spPr>
            <a:solidFill xmlns:a="http://schemas.openxmlformats.org/drawingml/2006/main">
              <a:srgbClr val="0072B2"/>
            </a:solidFill>
          </c:spPr>
          <c:marker>
            <c:symbol val="none"/>
          </c:marker>
          <c:cat>
            <c:strRef>
              <c:f>'Chart Data'!$A$2:$A$7</c:f>
              <c:strCache>
                <c:ptCount val="6"/>
                <c:pt idx="0">
                  <c:v>0</c:v>
                </c:pt>
                <c:pt idx="1">
                  <c:v>1-9</c:v>
                </c:pt>
                <c:pt idx="2">
                  <c:v>10-29</c:v>
                </c:pt>
                <c:pt idx="3">
                  <c:v>30-49</c:v>
                </c:pt>
                <c:pt idx="4">
                  <c:v>50-99</c:v>
                </c:pt>
                <c:pt idx="5">
                  <c:v>100+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0.83</c:v>
                </c:pt>
                <c:pt idx="1">
                  <c:v>1.81</c:v>
                </c:pt>
                <c:pt idx="2">
                  <c:v>8.11</c:v>
                </c:pt>
                <c:pt idx="3">
                  <c:v>18.45</c:v>
                </c:pt>
                <c:pt idx="4">
                  <c:v>37.53</c:v>
                </c:pt>
                <c:pt idx="5">
                  <c:v>71.14</c:v>
                </c:pt>
              </c:numCache>
            </c:numRef>
          </c:val>
        </c:ser>
        <c:ser>
          <c:idx val="1"/>
          <c:order val="1"/>
          <c:tx>
            <c:v>gate_40</c:v>
          </c:tx>
          <c:spPr>
            <a:solidFill xmlns:a="http://schemas.openxmlformats.org/drawingml/2006/main">
              <a:srgbClr val="D55E00"/>
            </a:solidFill>
          </c:spPr>
          <c:marker>
            <c:symbol val="none"/>
          </c:marker>
          <c:cat>
            <c:strRef>
              <c:f>'Chart Data'!$C$2:$C$7</c:f>
              <c:strCache>
                <c:ptCount val="6"/>
                <c:pt idx="0">
                  <c:v>0</c:v>
                </c:pt>
                <c:pt idx="1">
                  <c:v>1-9</c:v>
                </c:pt>
                <c:pt idx="2">
                  <c:v>10-29</c:v>
                </c:pt>
                <c:pt idx="3">
                  <c:v>30-49</c:v>
                </c:pt>
                <c:pt idx="4">
                  <c:v>50-99</c:v>
                </c:pt>
                <c:pt idx="5">
                  <c:v>100+</c:v>
                </c:pt>
              </c:strCache>
            </c:str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0.63</c:v>
                </c:pt>
                <c:pt idx="1">
                  <c:v>1.82</c:v>
                </c:pt>
                <c:pt idx="2">
                  <c:v>7.34</c:v>
                </c:pt>
                <c:pt idx="3">
                  <c:v>17.37</c:v>
                </c:pt>
                <c:pt idx="4">
                  <c:v>32.89</c:v>
                </c:pt>
                <c:pt idx="5">
                  <c:v>71.03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累计游戏轮次分桶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0D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D7 留存率（%）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9CF584-FEDA-4D0A-8C40-28BF2E03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COOKIE CATS  /  A/B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920E89-3E78-4183-AEE2-031B2DC9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048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54B2A9-26FB-45C6-98CA-5D03DFD9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8F9B2-4716-45DC-98D7-18439DB4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620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9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9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9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9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9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9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9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9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9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9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首次门槛后移，D7 留存下降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6CD7B6-2D67-4430-9F06-38508F31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33700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rPr>
              <a:t>业务问题：把首次等待或付费门槛从第 30 关移到第 40 关，是否改善玩家参与度和留存？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D9078B-7B60-4D58-A8C7-5EB6B991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4097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01AA43-10C9-4ED5-99E5-B90D0535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5260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保留 30 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3CEC1D-AAA5-40F7-8FC4-997D7BEE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431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rPr>
              <a:t>不上线 40 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BB8924-E847-4294-992B-72D9FBEC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602557-18CA-48AC-8E48-4A54E9E8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90,189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BDE986-6BB6-4319-89E8-0BD9084C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有效玩家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F3E963-8B66-48EC-91D8-5314EAA6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196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rPr>
              <a:t>-0.82 pp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9A504F-2ECC-4D7A-BA7F-E196DEDA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429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D7 留存差异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7F16E1-08DA-4B2A-90FE-36ED82D3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196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0.00155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8E0F91-719A-4C15-98BC-96556A90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429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双比例检验 p 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BFABB5-1AEF-4ACF-A2CB-985B7C26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数据：DataCamp 公开实验  |  差异口径：gate_40 - gate_30</a:t>
            </a:r>
          </a:p>
        </p:txBody>
      </p:sp>
    </p:spTree>
    <p:extLst>
      <p:ext uri="{BB962C8B-B14F-4D97-AF65-F5344CB8AC3E}">
        <p14:creationId xmlns:p14="http://schemas.microsoft.com/office/powerpoint/2010/main" val="16751999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B8F22F-561A-44EA-BA9E-19902151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COOKIE CATS  /  A/B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7B7A65-0AB9-4669-AD1D-DA6E12A3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048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A3C732-14B3-48B8-B43A-46DF82AE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BE617-973F-42EC-8DE3-1C7D870C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8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90,189 名新玩家，分组接近 1:1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63ED06-9E16-483D-B1E5-3FA0BB49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962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rPr>
              <a:t>两组样本量接近，字段完整且用户唯一。分组仍有轻微不均衡，因此需要在局限性中说明。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0C11FB-E9BB-43F1-A7E9-F0326DAC60DA}"/>
              </a:ext>
            </a:extLst>
          </p:cNvPr>
          <p:cNvGraphicFramePr/>
          <p:nvPr/>
        </p:nvGraphicFramePr>
        <p:xfrm>
          <a:off xmlns:a="http://schemas.openxmlformats.org/drawingml/2006/main" x="685800" y="2647950"/>
          <a:ext xmlns:a="http://schemas.openxmlformats.org/drawingml/2006/main" cx="10820400" cy="2000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805289"/>
                <a:gridCol w="2003778"/>
                <a:gridCol w="2003778"/>
                <a:gridCol w="2003778"/>
                <a:gridCol w="2003778"/>
              </a:tblGrid>
              <a:tr h="6667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3CD"/>
                      </a:solidFill>
                      <a:prstDash val="solid"/>
                    </a:lnL>
                    <a:lnR w="9525">
                      <a:solidFill>
                        <a:srgbClr val="D6D3CD"/>
                      </a:solidFill>
                      <a:prstDash val="solid"/>
                    </a:lnR>
                    <a:lnT w="9525">
                      <a:solidFill>
                        <a:srgbClr val="D6D3CD"/>
                      </a:solidFill>
                      <a:prstDash val="solid"/>
                    </a:lnT>
                    <a:lnB w="9525">
                      <a:solidFill>
                        <a:srgbClr val="D6D3CD"/>
                      </a:solidFill>
                      <a:prstDash val="solid"/>
                    </a:lnB>
                    <a:solidFill>
                      <a:srgbClr val="1720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玩家数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3CD"/>
                      </a:solidFill>
                      <a:prstDash val="solid"/>
                    </a:lnR>
                    <a:lnT w="9525">
                      <a:solidFill>
                        <a:srgbClr val="D6D3CD"/>
                      </a:solidFill>
                      <a:prstDash val="solid"/>
                    </a:lnT>
                    <a:lnB w="9525">
                      <a:solidFill>
                        <a:srgbClr val="D6D3CD"/>
                      </a:solidFill>
                      <a:prstDash val="solid"/>
                    </a:lnB>
                    <a:solidFill>
                      <a:srgbClr val="1720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样本占比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3CD"/>
                      </a:solidFill>
                      <a:prstDash val="solid"/>
                    </a:lnR>
                    <a:lnT w="9525">
                      <a:solidFill>
                        <a:srgbClr val="D6D3CD"/>
                      </a:solidFill>
                      <a:prstDash val="solid"/>
                    </a:lnT>
                    <a:lnB w="9525">
                      <a:solidFill>
                        <a:srgbClr val="D6D3CD"/>
                      </a:solidFill>
                      <a:prstDash val="solid"/>
                    </a:lnB>
                    <a:solidFill>
                      <a:srgbClr val="1720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D1 留存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3CD"/>
                      </a:solidFill>
                      <a:prstDash val="solid"/>
                    </a:lnR>
                    <a:lnT w="9525">
                      <a:solidFill>
                        <a:srgbClr val="D6D3CD"/>
                      </a:solidFill>
                      <a:prstDash val="solid"/>
                    </a:lnT>
                    <a:lnB w="9525">
                      <a:solidFill>
                        <a:srgbClr val="D6D3CD"/>
                      </a:solidFill>
                      <a:prstDash val="solid"/>
                    </a:lnB>
                    <a:solidFill>
                      <a:srgbClr val="1720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D7 留存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3CD"/>
                      </a:solidFill>
                      <a:prstDash val="solid"/>
                    </a:lnR>
                    <a:lnT w="9525">
                      <a:solidFill>
                        <a:srgbClr val="D6D3CD"/>
                      </a:solidFill>
                      <a:prstDash val="solid"/>
                    </a:lnT>
                    <a:lnB w="9525">
                      <a:solidFill>
                        <a:srgbClr val="D6D3CD"/>
                      </a:solidFill>
                      <a:prstDash val="solid"/>
                    </a:lnB>
                    <a:solidFill>
                      <a:srgbClr val="17202A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gate_30（对照）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3CD"/>
                      </a:solidFill>
                      <a:prstDash val="solid"/>
                    </a:lnL>
                    <a:lnR w="9525">
                      <a:solidFill>
                        <a:srgbClr val="D6D3CD"/>
                      </a:solidFill>
                      <a:prstDash val="solid"/>
                    </a:lnR>
                    <a:lnB w="9525">
                      <a:solidFill>
                        <a:srgbClr val="D6D3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44,700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3CD"/>
                      </a:solidFill>
                      <a:prstDash val="solid"/>
                    </a:lnR>
                    <a:lnB w="9525">
                      <a:solidFill>
                        <a:srgbClr val="D6D3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49.56%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3CD"/>
                      </a:solidFill>
                      <a:prstDash val="solid"/>
                    </a:lnR>
                    <a:lnB w="9525">
                      <a:solidFill>
                        <a:srgbClr val="D6D3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44.82%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3CD"/>
                      </a:solidFill>
                      <a:prstDash val="solid"/>
                    </a:lnR>
                    <a:lnB w="9525">
                      <a:solidFill>
                        <a:srgbClr val="D6D3C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19.02%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3CD"/>
                      </a:solidFill>
                      <a:prstDash val="solid"/>
                    </a:lnR>
                    <a:lnB w="9525">
                      <a:solidFill>
                        <a:srgbClr val="D6D3CD"/>
                      </a:solidFill>
                      <a:prstDash val="solid"/>
                    </a:lnB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gate_40（实验）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3CD"/>
                      </a:solidFill>
                      <a:prstDash val="solid"/>
                    </a:lnL>
                    <a:lnR w="9525">
                      <a:solidFill>
                        <a:srgbClr val="D6D3CD"/>
                      </a:solidFill>
                      <a:prstDash val="solid"/>
                    </a:lnR>
                    <a:lnB w="9525">
                      <a:solidFill>
                        <a:srgbClr val="D6D3CD"/>
                      </a:solidFill>
                      <a:prstDash val="solid"/>
                    </a:lnB>
                    <a:solidFill>
                      <a:srgbClr val="F1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45,489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3CD"/>
                      </a:solidFill>
                      <a:prstDash val="solid"/>
                    </a:lnR>
                    <a:lnB w="9525">
                      <a:solidFill>
                        <a:srgbClr val="D6D3CD"/>
                      </a:solidFill>
                      <a:prstDash val="solid"/>
                    </a:lnB>
                    <a:solidFill>
                      <a:srgbClr val="F1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50.44%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3CD"/>
                      </a:solidFill>
                      <a:prstDash val="solid"/>
                    </a:lnR>
                    <a:lnB w="9525">
                      <a:solidFill>
                        <a:srgbClr val="D6D3CD"/>
                      </a:solidFill>
                      <a:prstDash val="solid"/>
                    </a:lnB>
                    <a:solidFill>
                      <a:srgbClr val="F1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44.23%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3CD"/>
                      </a:solidFill>
                      <a:prstDash val="solid"/>
                    </a:lnR>
                    <a:lnB w="9525">
                      <a:solidFill>
                        <a:srgbClr val="D6D3CD"/>
                      </a:solidFill>
                      <a:prstDash val="solid"/>
                    </a:lnB>
                    <a:solidFill>
                      <a:srgbClr val="F1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18.20%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3CD"/>
                      </a:solidFill>
                      <a:prstDash val="solid"/>
                    </a:lnR>
                    <a:lnB w="9525">
                      <a:solidFill>
                        <a:srgbClr val="D6D3CD"/>
                      </a:solidFill>
                      <a:prstDash val="solid"/>
                    </a:lnB>
                    <a:solidFill>
                      <a:srgbClr val="F1EEE8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94CC7-3FA4-4E0B-A224-55E450CA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数据质量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A42980-6910-4016-AD2F-AE488230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rPr>
              <a:t>90,189 个唯一用户 ID  |  0 个缺失值  |  仅两种分组  |  SRM p = 0.0086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9D05F8-A6CF-46A1-954F-D65F70E7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指标口径：retention_1 / retention_7 分别表示安装后第 1 天、第 7 天是否再次登录。</a:t>
            </a:r>
          </a:p>
        </p:txBody>
      </p:sp>
    </p:spTree>
    <p:extLst>
      <p:ext uri="{BB962C8B-B14F-4D97-AF65-F5344CB8AC3E}">
        <p14:creationId xmlns:p14="http://schemas.microsoft.com/office/powerpoint/2010/main" val="9664478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34C5D7-DFE7-489C-AB2F-E14BE9E3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COOKIE CATS  /  A/B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BFF75E-4381-4A66-947A-F0C05A8F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048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13AC1E-D2C1-4810-B55F-38BF7AF8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30FF8B-F22E-4B25-B055-D1BB209A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04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8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D7 留存显著下降 0.82 个百分点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5897C3-2A74-4963-9B2F-C17F3DA1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904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rPr>
              <a:t>D7 是主指标。D1 的方向同样为负，但置信区间跨过 0，不能称为显著下降。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E98906DB-AC03-429D-947D-0A928C737F67}"/>
              </a:ext>
            </a:extLst>
          </p:cNvPr>
          <p:cNvGraphicFramePr/>
          <p:nvPr/>
        </p:nvGraphicFramePr>
        <p:xfrm>
          <a:off xmlns:a="http://schemas.openxmlformats.org/drawingml/2006/main" x="685800" y="2419350"/>
          <a:ext xmlns:a="http://schemas.openxmlformats.org/drawingml/2006/main" cx="6191250" cy="3352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cfd258f3fe64fe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9E368D-40F5-422B-B7E3-F1CAF52A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76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D7 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D28F5A-C419-4681-A168-3C504661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91465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rPr>
              <a:t>差异  -0.82 pp</a:t>
            </a:r>
          </a:p>
          <a:p xmlns:a="http://schemas.openxmlformats.org/drawingml/2006/main">
            <a:pPr algn="l">
              <a:defRPr sz="157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rPr>
              <a:t>95% CI  [-1.33, -0.31] pp</a:t>
            </a:r>
          </a:p>
          <a:p xmlns:a="http://schemas.openxmlformats.org/drawingml/2006/main">
            <a:pPr algn="l">
              <a:defRPr sz="157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rPr>
              <a:t>p 值  0.0016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9075F6-9BAA-497D-9FC2-04DD0D78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591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D1 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B4C81C-2686-4DFB-8C6C-65766364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991100"/>
            <a:ext cx="3714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rPr>
              <a:t>差异  -0.59 pp</a:t>
            </a:r>
          </a:p>
          <a:p xmlns:a="http://schemas.openxmlformats.org/drawingml/2006/main">
            <a:pPr algn="l">
              <a:defRPr sz="135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rPr>
              <a:t>p 值  0.0744（不显著）</a:t>
            </a:r>
          </a:p>
        </p:txBody>
      </p:sp>
    </p:spTree>
    <p:extLst>
      <p:ext uri="{BB962C8B-B14F-4D97-AF65-F5344CB8AC3E}">
        <p14:creationId xmlns:p14="http://schemas.microsoft.com/office/powerpoint/2010/main" val="1555895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00DF85-6202-45FD-9139-1803CB34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COOKIE CATS  /  A/B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3A821D-F118-4744-B993-86DA0C3A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048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7989D8-5765-4A7F-96D4-153E7805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DFA5C4-B5E7-4101-BDD9-EB9E6435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8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更多游戏轮次没有带来更高参与度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DECA2A-59E7-4787-8048-F4BA7CFC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rPr>
              <a:t>40 关组的中位轮次从 17 降至 16。轮次与留存高度相关，但这是玩家活跃度的结果，不能解释为因果。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C27D181C-1A92-4E1E-9B59-CAA488542B4C}"/>
              </a:ext>
            </a:extLst>
          </p:cNvPr>
          <p:cNvGraphicFramePr/>
          <p:nvPr/>
        </p:nvGraphicFramePr>
        <p:xfrm>
          <a:off xmlns:a="http://schemas.openxmlformats.org/drawingml/2006/main" x="685800" y="2476500"/>
          <a:ext xmlns:a="http://schemas.openxmlformats.org/drawingml/2006/main" cx="6838950" cy="3276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cd22fdd530e476b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B54EE3-AC76-4784-8EFF-F20F4B77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76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游戏轮次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B02709-BCBD-418B-9666-3BC9EA2D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14650"/>
            <a:ext cx="3238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rPr>
              <a:t>中位数        17 → 16</a:t>
            </a:r>
          </a:p>
          <a:p xmlns:a="http://schemas.openxmlformats.org/drawingml/2006/main">
            <a:pPr algn="l">
              <a:defRPr sz="127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rPr>
              <a:t>均值          52.5 → 51.3</a:t>
            </a:r>
          </a:p>
          <a:p xmlns:a="http://schemas.openxmlformats.org/drawingml/2006/main">
            <a:pPr algn="l">
              <a:defRPr sz="127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rPr>
              <a:t>P99 截尾均值  49.1 → 48.9</a:t>
            </a:r>
          </a:p>
          <a:p xmlns:a="http://schemas.openxmlformats.org/drawingml/2006/main">
            <a:pPr algn="l">
              <a:defRPr sz="127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rPr>
              <a:t>最大值    49,854 → 2,640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3379F8-0FA5-49DB-9BB8-F134A92E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863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C58B17-F50A-4F54-83F4-E72D652D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9339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分桶结论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C6F579-D977-4C91-8E04-C1657746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14950"/>
            <a:ext cx="3238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rPr>
              <a:t>两组都呈现“轮次越高、留存越高”。差异主要集中在 10–99 轮区间，没有出现 40 关组整体更强的证据。</a:t>
            </a:r>
          </a:p>
        </p:txBody>
      </p:sp>
    </p:spTree>
    <p:extLst>
      <p:ext uri="{BB962C8B-B14F-4D97-AF65-F5344CB8AC3E}">
        <p14:creationId xmlns:p14="http://schemas.microsoft.com/office/powerpoint/2010/main" val="4739920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76B95B-891E-4D68-AE2E-B3D47A2D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COOKIE CATS  /  A/B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EF4C63-3C1F-4DAE-8C41-5607A584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048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E265DA-639F-46FB-8414-2ECE5FC9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A31851-4DDD-4DBD-A2E6-64433ED1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8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保留 30 关门槛，补齐付费指标再评估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6BFB00-7752-4672-A7BB-C270832A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rPr>
              <a:t>决策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AAEC0B-95C7-4FE4-A5F4-39D7DC22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不上线 gate_40。D7 是主指标，已经出现显著负向影响；D1 没有改善；轮次中位数下降。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1EBB50-664C-4FB6-863E-CF6BC43E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08D538-B7B5-4005-8D79-970BAE40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为什么证据足够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0F4E89-113E-4CB0-A06F-5D20D462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4953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rPr>
              <a:t>• 90,189 名玩家，为 D7 留存提供了较窄的估计区间</a:t>
            </a:r>
          </a:p>
          <a:p xmlns:a="http://schemas.openxmlformats.org/drawingml/2006/main">
            <a:pPr algn="l">
              <a:defRPr sz="12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rPr>
              <a:t>• D7 差异 95% CI 为 [-1.33, -0.31] pp</a:t>
            </a:r>
          </a:p>
          <a:p xmlns:a="http://schemas.openxmlformats.org/drawingml/2006/main">
            <a:pPr algn="l">
              <a:defRPr sz="12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rPr>
              <a:t>• 轮次 P99 截尾均值与中位数均未显示 gate_40 优势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CD6D74-8A1F-4201-85FB-8AF385C1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385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下一步实验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60F0F4-F0F9-4923-806F-FD3861F6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57650"/>
            <a:ext cx="4857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rPr>
              <a:t>1. 补齐 ARPU、付费率和首次付费时间</a:t>
            </a:r>
          </a:p>
          <a:p xmlns:a="http://schemas.openxmlformats.org/drawingml/2006/main">
            <a:pPr algn="l">
              <a:defRPr sz="12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rPr>
              <a:t>2. 增加 D14 / D30 留存与长期收入</a:t>
            </a:r>
          </a:p>
          <a:p xmlns:a="http://schemas.openxmlformats.org/drawingml/2006/main">
            <a:pPr algn="l">
              <a:defRPr sz="12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F4A56"/>
                </a:solidFill>
                <a:latin typeface="Microsoft YaHei"/>
                <a:ea typeface="Microsoft YaHei"/>
                <a:cs typeface="Microsoft YaHei"/>
              </a:rPr>
              <a:t>3. 复测分流比例并检查 SRM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FC91F6-83E3-4D5B-B271-3649E8D9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局限：公开数据缺少 DAU、渠道、设备与收入信息；本结论只适用于留存和游戏轮次，不代表任何真实上线项目的业务表现。</a:t>
            </a:r>
          </a:p>
        </p:txBody>
      </p:sp>
    </p:spTree>
    <p:extLst>
      <p:ext uri="{BB962C8B-B14F-4D97-AF65-F5344CB8AC3E}">
        <p14:creationId xmlns:p14="http://schemas.microsoft.com/office/powerpoint/2010/main" val="5686677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2026-10-21T18:12:40.7350000Z</dcterms:created>
  <dcterms:modified xsi:type="dcterms:W3CDTF">2026-10-21T18:12:40.7350000Z</dcterms:modified>
</coreProperties>
</file>